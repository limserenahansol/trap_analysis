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0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828800"/>
            <a:ext cx="10728655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5F"/>
                </a:solidFill>
              </a:defRPr>
            </a:pPr>
            <a:r>
              <a:rPr dirty="0"/>
              <a:t>TRAP whole-brain analysis — </a:t>
            </a:r>
            <a:r>
              <a:rPr lang="en-US" dirty="0"/>
              <a:t>Hansol Lim</a:t>
            </a:r>
            <a:endParaRPr dirty="0"/>
          </a:p>
          <a:p>
            <a:pPr>
              <a:defRPr sz="1800">
                <a:solidFill>
                  <a:srgbClr val="555555"/>
                </a:solidFill>
              </a:defRPr>
            </a:pPr>
            <a:r>
              <a:rPr dirty="0"/>
              <a:t>Figure + meaning + code for every step used in the final story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rPr dirty="0"/>
              <a:t>Findings: A = </a:t>
            </a:r>
            <a:r>
              <a:rPr dirty="0" err="1"/>
              <a:t>ORBm</a:t>
            </a:r>
            <a:r>
              <a:rPr dirty="0"/>
              <a:t> / </a:t>
            </a:r>
            <a:r>
              <a:rPr dirty="0" err="1"/>
              <a:t>BMAp</a:t>
            </a:r>
            <a:r>
              <a:rPr dirty="0"/>
              <a:t> (Active ≫ Passive) · B = </a:t>
            </a:r>
            <a:r>
              <a:rPr dirty="0" err="1"/>
              <a:t>COAa</a:t>
            </a:r>
            <a:r>
              <a:rPr dirty="0"/>
              <a:t> (Passive-biased)</a:t>
            </a:r>
          </a:p>
          <a:p>
            <a:pPr>
              <a:defRPr sz="1400">
                <a:solidFill>
                  <a:srgbClr val="1565C0"/>
                </a:solidFill>
              </a:defRPr>
            </a:pPr>
            <a:r>
              <a:rPr dirty="0"/>
              <a:t>Code: https://github.com/limserenahansol/TRAP_analysis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rPr dirty="0"/>
              <a:t>Built for AI-benchmark navigation (final-PDF figures only)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A5F"/>
                </a:solidFill>
              </a:defRPr>
            </a:pPr>
            <a:r>
              <a:t>1 · Biological 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 Primary: find regions with the largest, most consistent Active ≫ Passive TRAP density across morphine phases.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 Secondary: find Passive-biased regions (Passive &gt; Active at Post + Withdrawal) that may track generalized motivation.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 Design: Active (contingent morphine SA) vs Passive (yoked) · During → Post → Withdrawal → Reinstatement.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 Readout: TRAP+ cell density (cells / sample volume mm³), L/R pooled · Allen atlas · calculated_mm3.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 Why it matters: Active-selective + Passive-flat → opioid-related seeking; Passive-biased → patient-relevant / general seeking candidate.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Data / cohort: TRAP_sample_manifest.csv · density workbook Hansol Lim 561 cell counts + density.xlsx</a:t>
            </a:r>
          </a:p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Repo: https://github.com/limserenahansol/TRAP_analysis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A5F"/>
                </a:solidFill>
              </a:defRPr>
            </a:pPr>
            <a:r>
              <a:t>2 · Two findings (final story)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B30000"/>
                </a:solidFill>
              </a:defRPr>
            </a:pPr>
            <a:r>
              <a:t>•  FINDING A — ORBm &amp; BMAp: Active ≫ Passive; Passive flat → dual-role craving (opioid seeking + WD negative affect).</a:t>
            </a:r>
          </a:p>
          <a:p>
            <a:pPr>
              <a:spcAft>
                <a:spcPts val="600"/>
              </a:spcAft>
              <a:defRPr sz="1600">
                <a:solidFill>
                  <a:srgbClr val="2E7D32"/>
                </a:solidFill>
              </a:defRPr>
            </a:pPr>
            <a:r>
              <a:t>•  FINDING B — COAa: Passive &gt; Active at Post + Withdrawal → cue/context + WD state → generalized-motivation candidate.</a:t>
            </a:r>
          </a:p>
          <a:p>
            <a:pPr>
              <a:spcAft>
                <a:spcPts val="600"/>
              </a:spcAft>
              <a:defRPr sz="1600">
                <a:solidFill>
                  <a:srgbClr val="1565C0"/>
                </a:solidFill>
              </a:defRPr>
            </a:pPr>
            <a:r>
              <a:t>•  Why keep both: A isolates opioid-related Active seeking; B is the Passive / patient-relevant contrast.</a:t>
            </a:r>
          </a:p>
          <a:p>
            <a:pPr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•  Why not only behavior-matched regions for A: those track both opioid craving and Passive generalized motivation.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A5F"/>
                </a:solidFill>
              </a:defRPr>
            </a:pPr>
            <a:r>
              <a:t>3 · Framing — opioid seeking vs general seeking</a:t>
            </a:r>
          </a:p>
        </p:txBody>
      </p:sp>
      <p:pic>
        <p:nvPicPr>
          <p:cNvPr id="3" name="Picture 2" descr="S03_schematic_three_circuits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708"/>
            <a:ext cx="7680960" cy="28468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960120"/>
            <a:ext cx="3687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WHAT: schematic separating Active-selective craving from Passive / general seeking.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WHY: Passive-flat at ORBm/BMAp argues against pure general-seeking accounts.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COAa is the Passive-side / generalized candidate to manipulate separately.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AI check: agent should state both stories, not only Active≫Passive.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Figure source: forMark/schematic_three_circuits_clean.png</a:t>
            </a:r>
          </a:p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Related scripts: trap_forMark_figs.py · circuit justification PPT builders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A5F"/>
                </a:solidFill>
              </a:defRPr>
            </a:pPr>
            <a:r>
              <a:t>4 · Workflow funnel (why cluster first, then zoom 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55555"/>
                </a:solidFill>
              </a:defRPr>
            </a:pPr>
            <a:r>
              <a:t>~800+ atlas → hierarchy567 → forebrain_no_bs → K=4 → clusters 1&amp;4 → 7 → ORBm/BMAp + COAa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94415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 Problem: hundreds of atlas regions → testing one-by-one is under-powered and unstructured.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 Step 1 FILTER: forebrain_no_bs (~138) · universal PCA display + k-means K=4 on Active−Passive fingerprint across 4 phases.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 Step 2 KEEP: only clusters 1 &amp; 4 match motivation timeline (A&gt;P at Post &amp; Reinstatement).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 Step 3 SHORTLIST: cluster4 BMAp/LM/RE/CP + cluster1 ORBm/CA/AId (= 7 regions).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 Step 4 ZOOM IN: density + cell count + mouse-level → only ORBm &amp; BMAp survive as Finding A; Finding B from cluster 3 → COAa.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MATLAB: RUN_PIPELINE_ALL.m · Step_03_region_clustering… · Step_13_universal_cluster_viz/…</a:t>
            </a:r>
          </a:p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Python story figures: trap_region_selection_ppt.py · trap_region_zoomin.py · trap_build_pptx.py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A5F"/>
                </a:solidFill>
              </a:defRPr>
            </a:pPr>
            <a:r>
              <a:t>5 · Fig 1 — Clustering method + PCA map</a:t>
            </a:r>
          </a:p>
        </p:txBody>
      </p:sp>
      <p:pic>
        <p:nvPicPr>
          <p:cNvPr id="3" name="Picture 2" descr="S05_Fig01_clustering_method_PCA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56659"/>
            <a:ext cx="7680960" cy="4298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960120"/>
            <a:ext cx="3687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WHAT: 138 forebrain regions in PC1–PC2, colored by K=4; selected 7 circled.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Method: z-score region profile across samples → k-means (sq-Euclidean, 50 restarts).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PCA is 2-D display only; clusters use the full profile.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AI check: keep fixed Step-3 K=4 labels; silhouette/elbow are supporting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CODE: trap_region_selection_ppt.py  →  region_selection_PPT/Fig01_…</a:t>
            </a:r>
          </a:p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Upstream MATLAB: Step_03 + Step_13 (roster 02_cluster_region_roster.csv)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A5F"/>
                </a:solidFill>
              </a:defRPr>
            </a:pPr>
            <a:r>
              <a:t>6 · Fig 3 — Why clusters 1 and 4</a:t>
            </a:r>
          </a:p>
        </p:txBody>
      </p:sp>
      <p:pic>
        <p:nvPicPr>
          <p:cNvPr id="3" name="Picture 2" descr="S06_Fig03_why_clusters_1_and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8730"/>
            <a:ext cx="7680960" cy="48748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960120"/>
            <a:ext cx="3687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WHAT: per-phase bars of cluster-mean Active − Passive.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Only clusters 1 &amp; 4 show A&gt;P at Post &amp; Reinstatement (motivation timeline).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Post ≈ Active morphine learning; WD ≈ Passive sucrose shift; Rein ≈ Active craving.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AI check: select clusters by phase pattern, not silhouette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CODE: trap_region_selection_ppt.py  →  Fig03_why_clusters_1_and_4.png</a:t>
            </a:r>
          </a:p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Inputs: cluster_AP_split/Cluster{N}_region_AP_direction.csv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A5F"/>
                </a:solidFill>
              </a:defRPr>
            </a:pPr>
            <a:r>
              <a:t>7 · Fig 4 — Cluster 4 shortlist (BMAp, LM, RE, CP)</a:t>
            </a:r>
          </a:p>
        </p:txBody>
      </p:sp>
      <p:pic>
        <p:nvPicPr>
          <p:cNvPr id="3" name="Picture 2" descr="S07_Fig04_cluster4_region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287" y="868680"/>
            <a:ext cx="5001024" cy="5074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960120"/>
            <a:ext cx="3687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WHAT: cluster-4 regions × phase heatmap of Active − Passive.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Boxed / selected: BMAp, LM, RE, CP (A&gt;P in craving-relevant phases).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BMAp later survives zoom-in as Finding A (with ORBm).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AI check: recover BMAp from cluster-4 AP shortlist.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CODE: trap_region_selection_ppt.py  →  Fig04_cluster4_region_selection*.png</a:t>
            </a:r>
          </a:p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MATLAB support: shared/trap_cluster_split_by_AP_direction.m (Step 13)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A5F"/>
                </a:solidFill>
              </a:defRPr>
            </a:pPr>
            <a:r>
              <a:t>8 · Fig 5 — Cluster 1 shortlist (ORBm, CA, AId)</a:t>
            </a:r>
          </a:p>
        </p:txBody>
      </p:sp>
      <p:pic>
        <p:nvPicPr>
          <p:cNvPr id="3" name="Picture 2" descr="S08_Fig05_cluster1_region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862" y="868680"/>
            <a:ext cx="4583875" cy="5074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960120"/>
            <a:ext cx="3687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WHAT: cluster-1 regions ranked / heatmapped by Active − Passive.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Selected shortlist: ORBm, CA, AId.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ORBm later survives zoom-in as Finding A (with BMAp).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AI check: recover ORBm from cluster-1 shortlist.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CODE: trap_region_selection_ppt.py  →  Fig05_cluster1_region_selection*.png</a:t>
            </a:r>
          </a:p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MATLAB support: shared/trap_cluster_split_by_AP_direction.m (Step 13)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A5F"/>
                </a:solidFill>
              </a:defRPr>
            </a:pPr>
            <a:r>
              <a:t>9 · Part 2 — Zoom-in logic (Finding A filter)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 After the 7-region shortlist, inspect density AND cell count across phases, Active vs Passive, every mouse.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 Keep regions where Active rises at Post, dips at WD but stays ≫ Passive, and Passive stays flat.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 Drop regions where Passive moves with Active (shared context) or one mouse drives the mean.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 Survivors for Finding A: ORBm + BMAp only.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CODE: trap_region_zoomin.py  →  region_zoomin/&lt;REG&gt;_density_count_by_phase.png</a:t>
            </a:r>
          </a:p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                →  region_zoomin/&lt;REG&gt;_withinphase_ActiveVsPassive.png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A5F"/>
                </a:solidFill>
              </a:defRPr>
            </a:pPr>
            <a:r>
              <a:t>10 · Finding A schematic — dual-role craving</a:t>
            </a:r>
          </a:p>
        </p:txBody>
      </p:sp>
      <p:pic>
        <p:nvPicPr>
          <p:cNvPr id="3" name="Picture 2" descr="S10_schematic_findingA_dual_role_incub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" y="868680"/>
            <a:ext cx="7612379" cy="5074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960120"/>
            <a:ext cx="3687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WHAT: conceptual dual-mode craving at ORBm/BMAp.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Post: opioid seeking (Active high). WD: negative-affect craving persists while Passive flat.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WHY shown: frames why Active≫Passive through WD is incubation-compatible.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Figure: forMark/schematic_findingA_dual_role_incubation.png</a:t>
            </a:r>
          </a:p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Related: trap_findingA_bridge_fig.py · trap_forMark_figs.py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A5F"/>
                </a:solidFill>
              </a:defRPr>
            </a:pPr>
            <a:r>
              <a:t>11 · Finding A evidence — ORBm &amp; BMAp raw density</a:t>
            </a:r>
          </a:p>
        </p:txBody>
      </p:sp>
      <p:pic>
        <p:nvPicPr>
          <p:cNvPr id="3" name="Picture 2" descr="S11_evidence_active_ORBm_B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0999"/>
            <a:ext cx="7680960" cy="3350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960120"/>
            <a:ext cx="3687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WHAT: Active vs Passive density trajectories for ORBm &amp; BMAp.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Pattern: Active peaks Post, dips WD, rebounds Rein; Passive essentially flat.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This is the Active-selective signature used to argue opioid-related seeking.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CODE: trap_forMark_figs.py / trap_hilo_ORBm_BMAp_COAa.py</a:t>
            </a:r>
          </a:p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Out: forMark/evidence_active_ORBm_BMAp.png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A5F"/>
                </a:solidFill>
              </a:defRPr>
            </a:pPr>
            <a:r>
              <a:t>12 · Why not the other original-7 regions?</a:t>
            </a:r>
          </a:p>
        </p:txBody>
      </p:sp>
      <p:pic>
        <p:nvPicPr>
          <p:cNvPr id="3" name="Picture 2" descr="S12_deprioritized_5region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68098"/>
            <a:ext cx="7680960" cy="4476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960120"/>
            <a:ext cx="3687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WHAT: summary of why CA, AId, LM, RE, CP were deprioritized for Finding A.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Typical failure modes: Passive not flat, both groups move together, or unstable mouse leverage.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AI check: agent should not treat all 7 as equal final targets.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CODE / out: forMark/deprioritized_5regions_summary.png (forMark helpers)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A5F"/>
                </a:solidFill>
              </a:defRPr>
            </a:pPr>
            <a:r>
              <a:t>13 · ORBm zoom-in — density &amp; cell count</a:t>
            </a:r>
          </a:p>
        </p:txBody>
      </p:sp>
      <p:pic>
        <p:nvPicPr>
          <p:cNvPr id="3" name="Picture 2" descr="S13_ORBm_density_count_by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434"/>
            <a:ext cx="7680960" cy="33554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960120"/>
            <a:ext cx="3687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WHAT: ORBm group-level density and cell count by phase (Active vs Passive).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Confirms the Active-selective rise / WD dip / Rein rebound pattern.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Density metric = calculated_mm3 (cells / sample volume).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CODE: trap_region_zoomin.py</a:t>
            </a:r>
          </a:p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Out: region_zoomin/ORBm_density_count_by_phase.png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A5F"/>
                </a:solidFill>
              </a:defRPr>
            </a:pPr>
            <a:r>
              <a:t>14 · ORBm mouse-level + paired slope</a:t>
            </a:r>
          </a:p>
        </p:txBody>
      </p:sp>
      <p:pic>
        <p:nvPicPr>
          <p:cNvPr id="3" name="Picture 2" descr="S17_ORBm_withinphase_ActiveVsPass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28231"/>
            <a:ext cx="5486400" cy="4087137"/>
          </a:xfrm>
          <a:prstGeom prst="rect">
            <a:avLst/>
          </a:prstGeom>
        </p:spPr>
      </p:pic>
      <p:pic>
        <p:nvPicPr>
          <p:cNvPr id="4" name="Picture 3" descr="S17_ORBm_density_paired_s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098432"/>
            <a:ext cx="5943600" cy="17467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21208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22222"/>
                </a:solidFill>
              </a:defRPr>
            </a:pPr>
            <a:r>
              <a:t>•  Left: one bar = one mouse within-phase Active vs Passive. Right: paired-slope consistency across mice.</a:t>
            </a:r>
          </a:p>
          <a:p>
            <a:pPr>
              <a:spcAft>
                <a:spcPts val="600"/>
              </a:spcAft>
              <a:defRPr sz="1200">
                <a:solidFill>
                  <a:srgbClr val="222222"/>
                </a:solidFill>
              </a:defRPr>
            </a:pPr>
            <a:r>
              <a:t>•  Shows the effect is not a single-mouse artifact.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CODE: trap_region_zoomin.py · forMark/paired_slope/ORBm_density_paired_slope.png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A5F"/>
                </a:solidFill>
              </a:defRPr>
            </a:pPr>
            <a:r>
              <a:t>15 · BMAp zoom-in — density &amp; cell count</a:t>
            </a:r>
          </a:p>
        </p:txBody>
      </p:sp>
      <p:pic>
        <p:nvPicPr>
          <p:cNvPr id="3" name="Picture 2" descr="S18_BMAp_density_count_by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434"/>
            <a:ext cx="7680960" cy="33554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960120"/>
            <a:ext cx="3687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WHAT: BMAp group-level density and cell count by phase.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Same Active-selective / Passive-flat motif as ORBm → second Finding A region.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Anatomically: basomedial amygdala posterior (emotional valence / addiction motivation).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CODE: trap_region_zoomin.py</a:t>
            </a:r>
          </a:p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Out: region_zoomin/BMAp_density_count_by_phase.png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A5F"/>
                </a:solidFill>
              </a:defRPr>
            </a:pPr>
            <a:r>
              <a:t>16 · BMAp mouse-level + paired slope</a:t>
            </a:r>
          </a:p>
        </p:txBody>
      </p:sp>
      <p:pic>
        <p:nvPicPr>
          <p:cNvPr id="3" name="Picture 2" descr="S22_BMAp_withinphase_ActiveVsPass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28231"/>
            <a:ext cx="5486400" cy="4087137"/>
          </a:xfrm>
          <a:prstGeom prst="rect">
            <a:avLst/>
          </a:prstGeom>
        </p:spPr>
      </p:pic>
      <p:pic>
        <p:nvPicPr>
          <p:cNvPr id="4" name="Picture 3" descr="S22_BMAp_density_paired_s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098432"/>
            <a:ext cx="5943600" cy="17467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21208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22222"/>
                </a:solidFill>
              </a:defRPr>
            </a:pPr>
            <a:r>
              <a:t>•  Mouse-level Active vs Passive bars + paired slopes confirm BMAp consistency across animals.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CODE: trap_region_zoomin.py · forMark/paired_slope/BMAp_density_paired_slope.png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A5F"/>
                </a:solidFill>
              </a:defRPr>
            </a:pPr>
            <a:r>
              <a:t>17 · Finding B start — why Passive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E7D32"/>
                </a:solidFill>
              </a:defRPr>
            </a:pPr>
            <a:r>
              <a:t>•  Passive is not only a control: noncontingent exposure still engages cue/context and WD state.</a:t>
            </a:r>
          </a:p>
          <a:p>
            <a:pPr>
              <a:spcAft>
                <a:spcPts val="600"/>
              </a:spcAft>
              <a:defRPr sz="1600">
                <a:solidFill>
                  <a:srgbClr val="2E7D32"/>
                </a:solidFill>
              </a:defRPr>
            </a:pPr>
            <a:r>
              <a:t>•  Regions with Passive &gt; Active at Post + Withdrawal are candidates for generalized (non-opioid-selective) motivation.</a:t>
            </a:r>
          </a:p>
          <a:p>
            <a:pPr>
              <a:spcAft>
                <a:spcPts val="600"/>
              </a:spcAft>
              <a:defRPr sz="1600">
                <a:solidFill>
                  <a:srgbClr val="1565C0"/>
                </a:solidFill>
              </a:defRPr>
            </a:pPr>
            <a:r>
              <a:t>•  Manipulation prediction: COAa OFF may affect broad seeking (e.g. sucrose); ORBm/BMAp OFF should spare that more.</a:t>
            </a:r>
          </a:p>
          <a:p>
            <a:pPr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•  This is a testable dissociation, not a proven causal result from TRAP alone.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A5F"/>
                </a:solidFill>
              </a:defRPr>
            </a:pPr>
            <a:r>
              <a:t>18 · Finding B schematic — Passive withdrawal / patient-relevant</a:t>
            </a:r>
          </a:p>
        </p:txBody>
      </p:sp>
      <p:pic>
        <p:nvPicPr>
          <p:cNvPr id="3" name="Picture 2" descr="S25_schematic_findingB_passive_withdraw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45869"/>
            <a:ext cx="7680960" cy="43205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960120"/>
            <a:ext cx="3687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WHAT: schematic for Passive-biased / patient-relevant motif.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Links Post+WD Passive elevation to cue/context + withdrawal state.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Sets up cluster-3 screen for Finding B candidates.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Figure: forMark/schematic_findingB_passive_withdrawal.png</a:t>
            </a:r>
          </a:p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Related: trap_findingB_cluster_map.py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A5F"/>
                </a:solidFill>
              </a:defRPr>
            </a:pPr>
            <a:r>
              <a:t>19 · Cluster 3 heatmap — Finding B candidates</a:t>
            </a:r>
          </a:p>
        </p:txBody>
      </p:sp>
      <p:pic>
        <p:nvPicPr>
          <p:cNvPr id="3" name="Picture 2" descr="S26_Fig_cluster3_FindingB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754" y="868680"/>
            <a:ext cx="3128090" cy="5074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960120"/>
            <a:ext cx="3687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WHAT: cluster-3 region heatmap / ranking for Passive-biased pattern.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COAa chosen as best anatomical fit (LGv/FC can match numerically).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AI check: agent must produce a second Passive-biased story, not only Finding 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CODE: trap_fig_cluster3_heatmap.py · findingB_COAa_revision/</a:t>
            </a:r>
          </a:p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Out: Fig_cluster3_FindingB_heatmap.png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A5F"/>
                </a:solidFill>
              </a:defRPr>
            </a:pPr>
            <a:r>
              <a:t>20 · COAa zoom-in — density &amp; cell count</a:t>
            </a:r>
          </a:p>
        </p:txBody>
      </p:sp>
      <p:pic>
        <p:nvPicPr>
          <p:cNvPr id="3" name="Picture 2" descr="S27_COAa_density_count_by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434"/>
            <a:ext cx="7680960" cy="33554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960120"/>
            <a:ext cx="3687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WHAT: COAa density and cell count by phase, Active vs Passive.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Pattern: Passive &gt; Active especially at Post and Withdrawal.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</a:defRPr>
            </a:pPr>
            <a:r>
              <a:t>•  This is Finding B’s primary quantitative panel.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CODE: COAa family / P&gt;A helpers (see trap_build_pptx_COAa_family.py)</a:t>
            </a:r>
          </a:p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Out: forMark/COAa_family/COAa_density_count_by_phase.png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A5F"/>
                </a:solidFill>
              </a:defRPr>
            </a:pPr>
            <a:r>
              <a:t>21 · COAa mouse-level + paired slope</a:t>
            </a:r>
          </a:p>
        </p:txBody>
      </p:sp>
      <p:pic>
        <p:nvPicPr>
          <p:cNvPr id="3" name="Picture 2" descr="S28_COAa_withinphase_ActiveVsPass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27078"/>
            <a:ext cx="5486400" cy="4089442"/>
          </a:xfrm>
          <a:prstGeom prst="rect">
            <a:avLst/>
          </a:prstGeom>
        </p:spPr>
      </p:pic>
      <p:pic>
        <p:nvPicPr>
          <p:cNvPr id="4" name="Picture 3" descr="S28_COAa_density_paired_s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098432"/>
            <a:ext cx="5943600" cy="17467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212080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22222"/>
                </a:solidFill>
              </a:defRPr>
            </a:pPr>
            <a:r>
              <a:t>•  Mouse-level and paired-slope panels for COAa Passive &gt; Active consistency.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CODE: P_gt_A_PostWD helpers · forMark/paired_slope/COAa_density_paired_slope.png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A5F"/>
                </a:solidFill>
              </a:defRPr>
            </a:pPr>
            <a:r>
              <a:t>22 · Code map (where to click on GitHub)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 Pipeline drivers: init_TRAP_pipeline.m · trap_config.m · RUN_PIPELINE_ALL.m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 Clustering: Step_03_region_clustering_PCA_kmeans/ · Step_13_universal_cluster_viz/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 Final-story Python (repo root): trap_region_selection_ppt.py · trap_region_zoomin.py · trap_build_pptx.py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 Finding helpers: trap_fig_cluster3_heatmap.py · trap_hilo_ORBm_BMAp_COAa.py · trap_forMark_figs.py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 Pack offline copies: colleague_AI_benchmark_pack/code/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 Canonical outputs: TRAP_OUTPUT_calculated_mm3/region_selection_PPT/ · region_zoomin/ · forMark/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https://github.com/limserenahansol/TRAP_analysis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A5F"/>
                </a:solidFill>
              </a:defRPr>
            </a:pPr>
            <a:r>
              <a:t>23 · AI-benchmark rubric (what success looks like)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 Recover biological aim: Active≫Passive primary + Passive-biased secondary.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 Reproduce funnel: forebrain → K=4 → keep clusters 1&amp;4 → shortlist 7 → zoom survivors ORBm/BMAp.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 Name Finding A = ORBm + BMAp with Passive-flat Active-selective rationale.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 Name Finding B = COAa (Passive &gt; Active at Post+WD); mention LGv/FC as numeric peers.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 Point to the correct scripts above for each figure — not the entire Step-13 PNG dump.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•  Do not treat histology slides as pipeline-generated plots (they were inserted into the PPT).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3A5F"/>
                </a:solidFill>
              </a:defRPr>
            </a:pPr>
            <a:r>
              <a:t>24 ·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 Aim: map opioid-selective craving circuits vs generalized / Passive-side motivation.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 Method: cluster first (structure) → shortlist → zoom-in (individual regions + mice).</a:t>
            </a:r>
          </a:p>
          <a:p>
            <a:pPr>
              <a:spcAft>
                <a:spcPts val="600"/>
              </a:spcAft>
              <a:defRPr sz="1600">
                <a:solidFill>
                  <a:srgbClr val="B30000"/>
                </a:solidFill>
              </a:defRPr>
            </a:pPr>
            <a:r>
              <a:t>•  Finding A: ORBm &amp; BMAp — Active ≫ Passive, Passive flat.</a:t>
            </a:r>
          </a:p>
          <a:p>
            <a:pPr>
              <a:spcAft>
                <a:spcPts val="600"/>
              </a:spcAft>
              <a:defRPr sz="1600">
                <a:solidFill>
                  <a:srgbClr val="2E7D32"/>
                </a:solidFill>
              </a:defRPr>
            </a:pPr>
            <a:r>
              <a:t>•  Finding B: COAa — Passive &gt; Active at Post + Withdrawal.</a:t>
            </a:r>
          </a:p>
          <a:p>
            <a:pPr>
              <a:spcAft>
                <a:spcPts val="600"/>
              </a:spcAft>
              <a:defRPr sz="1600">
                <a:solidFill>
                  <a:srgbClr val="1565C0"/>
                </a:solidFill>
              </a:defRPr>
            </a:pPr>
            <a:r>
              <a:t>•  This deck = figure + meaning + code for the final story only.</a:t>
            </a:r>
          </a:p>
          <a:p>
            <a:pPr>
              <a:spcAft>
                <a:spcPts val="600"/>
              </a:spcAft>
              <a:defRPr sz="1600">
                <a:solidFill>
                  <a:srgbClr val="555555"/>
                </a:solidFill>
              </a:defRPr>
            </a:pPr>
            <a:r>
              <a:t>•  Companion docs in pack: 00_START_HERE.md · HOW_FINAL_PDF_WAS_MADE.md · FINAL_PDF_FIGURE_MAP.md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80760"/>
            <a:ext cx="114601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GitHub: https://github.com/limserenahansol/TRAP_analysis</a:t>
            </a:r>
          </a:p>
          <a:p>
            <a:pPr>
              <a:defRPr sz="1100">
                <a:solidFill>
                  <a:srgbClr val="1565C0"/>
                </a:solidFill>
                <a:latin typeface="Consolas"/>
              </a:defRPr>
            </a:pPr>
            <a:r>
              <a:t>Local pack: Research_Projects/02_TRAP_wholebrain/colleague_AI_benchmark_pack/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2524</Words>
  <Application>Microsoft Office PowerPoint</Application>
  <PresentationFormat>Widescreen</PresentationFormat>
  <Paragraphs>155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hansol lim</cp:lastModifiedBy>
  <cp:revision>2</cp:revision>
  <dcterms:created xsi:type="dcterms:W3CDTF">2013-01-27T09:14:16Z</dcterms:created>
  <dcterms:modified xsi:type="dcterms:W3CDTF">2026-08-22T00:34:28Z</dcterms:modified>
  <cp:category/>
</cp:coreProperties>
</file>